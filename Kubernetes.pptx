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76" r:id="rId4"/>
    <p:sldId id="279" r:id="rId5"/>
    <p:sldId id="281" r:id="rId6"/>
    <p:sldId id="282" r:id="rId7"/>
    <p:sldId id="280" r:id="rId8"/>
    <p:sldId id="284" r:id="rId9"/>
    <p:sldId id="285" r:id="rId10"/>
    <p:sldId id="268" r:id="rId11"/>
    <p:sldId id="277" r:id="rId12"/>
    <p:sldId id="269" r:id="rId13"/>
    <p:sldId id="259" r:id="rId14"/>
    <p:sldId id="266" r:id="rId15"/>
    <p:sldId id="286" r:id="rId17"/>
    <p:sldId id="287" r:id="rId18"/>
    <p:sldId id="288" r:id="rId19"/>
    <p:sldId id="289" r:id="rId20"/>
    <p:sldId id="265" r:id="rId21"/>
    <p:sldId id="261" r:id="rId22"/>
    <p:sldId id="273" r:id="rId23"/>
    <p:sldId id="263" r:id="rId24"/>
    <p:sldId id="264" r:id="rId25"/>
    <p:sldId id="262" r:id="rId26"/>
    <p:sldId id="27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644776"/>
            <a:ext cx="10363200" cy="1470025"/>
          </a:xfrm>
        </p:spPr>
        <p:txBody>
          <a:bodyPr/>
          <a:lstStyle>
            <a:lvl1pPr algn="r">
              <a:defRPr sz="3600">
                <a:solidFill>
                  <a:srgbClr val="FF3300"/>
                </a:solidFill>
              </a:defRPr>
            </a:lvl1pPr>
          </a:lstStyle>
          <a:p>
            <a:pPr lvl="0" fontAlgn="base"/>
            <a:r>
              <a:rPr lang="en-US" strike="noStrike" noProof="0"/>
              <a:t>Click to edit Master title style</a:t>
            </a:r>
            <a:endParaRPr lang="en-US" strike="noStrike" noProof="0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43200" y="4267200"/>
            <a:ext cx="853440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>
                <a:latin typeface="Arial" panose="020B0604020202090204" pitchFamily="34" charset="0"/>
              </a:defRPr>
            </a:lvl1pPr>
          </a:lstStyle>
          <a:p>
            <a:pPr lvl="0" fontAlgn="base"/>
            <a:r>
              <a:rPr lang="en-US" strike="noStrike" noProof="0"/>
              <a:t>Click to edit Master subtitle style</a:t>
            </a:r>
            <a:endParaRPr lang="en-US" strike="noStrike" noProof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71601"/>
            <a:ext cx="5384800" cy="4754563"/>
          </a:xfrm>
        </p:spPr>
        <p:txBody>
          <a:bodyPr/>
          <a:lstStyle/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1"/>
            <a:ext cx="5384800" cy="4754563"/>
          </a:xfrm>
        </p:spPr>
        <p:txBody>
          <a:bodyPr/>
          <a:lstStyle/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r>
              <a:rPr lang="en-US" strike="noStrike" noProof="1"/>
              <a:t>Click icon to add picture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76201"/>
            <a:ext cx="2743200" cy="6049963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6201"/>
            <a:ext cx="8026400" cy="6049963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77000"/>
            <a:ext cx="2844800" cy="274638"/>
          </a:xfrm>
          <a:prstGeom prst="rect">
            <a:avLst/>
          </a:prstGeom>
        </p:spPr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21075" y="6477000"/>
            <a:ext cx="7343775" cy="274638"/>
          </a:xfrm>
          <a:prstGeom prst="rect">
            <a:avLst/>
          </a:prstGeom>
        </p:spPr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39463" y="6477000"/>
            <a:ext cx="977900" cy="274638"/>
          </a:xfrm>
          <a:prstGeom prst="rect">
            <a:avLst/>
          </a:prstGeom>
        </p:spPr>
        <p:txBody>
          <a:bodyPr/>
          <a:lstStyle/>
          <a:p>
            <a:pPr fontAlgn="auto"/>
            <a:fld id="{98091E5B-085A-B94D-9C44-236AC7262D58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9922" name="Rectangle 2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990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209923" name="Rectangle 3"/>
          <p:cNvSpPr>
            <a:spLocks noGrp="1"/>
          </p:cNvSpPr>
          <p:nvPr>
            <p:ph type="body"/>
          </p:nvPr>
        </p:nvSpPr>
        <p:spPr>
          <a:xfrm>
            <a:off x="609600" y="1371600"/>
            <a:ext cx="10972800" cy="47545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8" name="Text Box 6"/>
          <p:cNvSpPr txBox="1"/>
          <p:nvPr/>
        </p:nvSpPr>
        <p:spPr>
          <a:xfrm>
            <a:off x="5842000" y="6446838"/>
            <a:ext cx="508000" cy="2143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vl="0"/>
            <a:r>
              <a:rPr lang="en-US" altLang="zh-CN" sz="800">
                <a:latin typeface="Tahoma" panose="020B0604030504040204" pitchFamily="34" charset="0"/>
              </a:rPr>
              <a:t>*</a:t>
            </a:r>
            <a:endParaRPr lang="en-US" altLang="zh-CN" sz="80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9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20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 animBg="1"/>
      <p:bldP spid="209923" grpId="0" animBg="1">
        <p:tmplLst>
          <p:tmpl lvl="0">
            <p:tnLst>
              <p:par>
                <p:cTn presetID="14" presetClass="entr" presetSubtype="5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99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vertical)">
                      <p:cBhvr>
                        <p:cTn dur="500"/>
                        <p:tgtEl>
                          <p:spTgt spid="2099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90000"/>
        <a:buFont typeface="Wingdings" panose="05000000000000000000" pitchFamily="2" charset="2"/>
        <a:buChar char="w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7000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GI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23330" y="2644775"/>
            <a:ext cx="4954270" cy="1470025"/>
          </a:xfrm>
        </p:spPr>
        <p:txBody>
          <a:bodyPr/>
          <a:p>
            <a:r>
              <a:rPr lang="en-US"/>
              <a:t>Kubernetes</a:t>
            </a:r>
            <a:endParaRPr lang="en-US"/>
          </a:p>
        </p:txBody>
      </p:sp>
      <p:sp>
        <p:nvSpPr>
          <p:cNvPr id="6" name="Subtit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" y="1564005"/>
            <a:ext cx="4292600" cy="36937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Agenda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What is kubernetes(k8)</a:t>
            </a:r>
            <a:endParaRPr lang="en-US"/>
          </a:p>
          <a:p>
            <a:r>
              <a:rPr lang="en-US"/>
              <a:t>Key features of K8s</a:t>
            </a:r>
            <a:endParaRPr lang="en-US"/>
          </a:p>
          <a:p>
            <a:r>
              <a:rPr lang="en-US"/>
              <a:t>Docker vs K8s</a:t>
            </a:r>
            <a:endParaRPr lang="en-US"/>
          </a:p>
          <a:p>
            <a:r>
              <a:rPr lang="en-US"/>
              <a:t>Component of K8s</a:t>
            </a:r>
            <a:endParaRPr lang="en-US"/>
          </a:p>
          <a:p>
            <a:r>
              <a:rPr lang="en-US"/>
              <a:t>What is POD</a:t>
            </a:r>
            <a:endParaRPr lang="en-US"/>
          </a:p>
          <a:p>
            <a:r>
              <a:rPr lang="en-US"/>
              <a:t>What is Miniqube</a:t>
            </a:r>
            <a:endParaRPr lang="en-US"/>
          </a:p>
          <a:p>
            <a:r>
              <a:rPr lang="en-US"/>
              <a:t>Example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Terms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/>
              <a:t>Docker</a:t>
            </a:r>
            <a:endParaRPr lang="en-US" altLang="en-US" sz="2000"/>
          </a:p>
          <a:p>
            <a:r>
              <a:rPr lang="en-US" altLang="en-US" sz="2000"/>
              <a:t>What it is: A containerization platform.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r>
              <a:rPr lang="en-US" altLang="en-US" sz="2000"/>
              <a:t>Kubernetes</a:t>
            </a:r>
            <a:endParaRPr lang="en-US" altLang="en-US" sz="2000"/>
          </a:p>
          <a:p>
            <a:r>
              <a:rPr lang="en-US" altLang="en-US" sz="2000"/>
              <a:t>What it is:</a:t>
            </a:r>
            <a:endParaRPr lang="en-US" altLang="en-US" sz="2000"/>
          </a:p>
          <a:p>
            <a:r>
              <a:rPr lang="en-US" altLang="en-US" sz="2000"/>
              <a:t>A container orchestration platform.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Minikube</a:t>
            </a:r>
            <a:endParaRPr lang="en-US" altLang="en-US" sz="2000"/>
          </a:p>
          <a:p>
            <a:r>
              <a:rPr lang="en-US" altLang="en-US" sz="2000"/>
              <a:t>What it is:</a:t>
            </a:r>
            <a:endParaRPr lang="en-US" altLang="en-US" sz="2000"/>
          </a:p>
          <a:p>
            <a:r>
              <a:rPr lang="en-US" altLang="en-US" sz="2000"/>
              <a:t>A local Kubernetes cluster.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Amazon ECS (Elastic Container Service)</a:t>
            </a:r>
            <a:endParaRPr lang="en-US" altLang="en-US" sz="2000"/>
          </a:p>
          <a:p>
            <a:r>
              <a:rPr lang="en-US" altLang="en-US" sz="2000"/>
              <a:t>What it is: AWS’s managed container orchestration service.</a:t>
            </a: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zh-CN" altLang="en-US"/>
              <a:t>🐳</a:t>
            </a:r>
            <a:r>
              <a:rPr lang="en-US" altLang="en-US"/>
              <a:t> Docker</a:t>
            </a:r>
            <a:endParaRPr lang="en-US" altLang="en-US"/>
          </a:p>
          <a:p>
            <a:r>
              <a:rPr lang="en-US" altLang="en-US"/>
              <a:t>What it is: A containerization platform.</a:t>
            </a:r>
            <a:endParaRPr lang="en-US" altLang="en-US"/>
          </a:p>
          <a:p>
            <a:r>
              <a:rPr lang="en-US" altLang="en-US"/>
              <a:t>What it does:</a:t>
            </a:r>
            <a:endParaRPr lang="en-US" altLang="en-US"/>
          </a:p>
          <a:p>
            <a:r>
              <a:rPr lang="en-US" altLang="en-US"/>
              <a:t>* Builds container images</a:t>
            </a:r>
            <a:endParaRPr lang="en-US" altLang="en-US"/>
          </a:p>
          <a:p>
            <a:r>
              <a:rPr lang="en-US" altLang="en-US"/>
              <a:t>* Runs containers on a single machine</a:t>
            </a:r>
            <a:endParaRPr lang="en-US" altLang="en-US"/>
          </a:p>
          <a:p>
            <a:r>
              <a:rPr lang="en-US" altLang="en-US"/>
              <a:t>* Packages app + dependencies</a:t>
            </a:r>
            <a:endParaRPr lang="en-US" altLang="en-US"/>
          </a:p>
          <a:p>
            <a:r>
              <a:rPr lang="en-US" altLang="en-US"/>
              <a:t>Used for:</a:t>
            </a:r>
            <a:endParaRPr lang="en-US" altLang="en-US"/>
          </a:p>
          <a:p>
            <a:r>
              <a:rPr lang="en-US" altLang="en-US"/>
              <a:t>* Local development</a:t>
            </a:r>
            <a:endParaRPr lang="en-US" altLang="en-US"/>
          </a:p>
          <a:p>
            <a:r>
              <a:rPr lang="en-US" altLang="en-US"/>
              <a:t>* Simple deployments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zh-CN" altLang="en-US" sz="2400"/>
              <a:t>☸</a:t>
            </a:r>
            <a:r>
              <a:rPr lang="" altLang="en-US" sz="2400"/>
              <a:t>️</a:t>
            </a:r>
            <a:r>
              <a:rPr lang="en-US" altLang="en-US" sz="2400"/>
              <a:t> Kubernetes</a:t>
            </a:r>
            <a:endParaRPr lang="en-US" altLang="en-US" sz="2400"/>
          </a:p>
          <a:p>
            <a:r>
              <a:rPr lang="en-US" altLang="en-US" sz="2400"/>
              <a:t>What it is: A container orchestration platform.</a:t>
            </a:r>
            <a:endParaRPr lang="en-US" altLang="en-US" sz="2400"/>
          </a:p>
          <a:p>
            <a:r>
              <a:rPr lang="en-US" altLang="en-US" sz="2400"/>
              <a:t>What it does:</a:t>
            </a:r>
            <a:endParaRPr lang="en-US" altLang="en-US" sz="2400"/>
          </a:p>
          <a:p>
            <a:r>
              <a:rPr lang="en-US" altLang="en-US" sz="2400"/>
              <a:t>* Manages containers across multiple machines</a:t>
            </a:r>
            <a:endParaRPr lang="en-US" altLang="en-US" sz="2400"/>
          </a:p>
          <a:p>
            <a:r>
              <a:rPr lang="en-US" altLang="en-US" sz="2400"/>
              <a:t>* Auto-scaling, self-healing, load balancing</a:t>
            </a:r>
            <a:endParaRPr lang="en-US" altLang="en-US" sz="2400"/>
          </a:p>
          <a:p>
            <a:r>
              <a:rPr lang="en-US" altLang="en-US" sz="2400"/>
              <a:t>* Rolling updates &amp; rollbacks</a:t>
            </a:r>
            <a:endParaRPr lang="en-US" altLang="en-US" sz="2400"/>
          </a:p>
          <a:p>
            <a:r>
              <a:rPr lang="en-US" altLang="en-US" sz="2400"/>
              <a:t>Used for:</a:t>
            </a:r>
            <a:endParaRPr lang="en-US" altLang="en-US" sz="2400"/>
          </a:p>
          <a:p>
            <a:r>
              <a:rPr lang="en-US" altLang="en-US" sz="2400"/>
              <a:t>* Large-scale, production systems</a:t>
            </a:r>
            <a:endParaRPr lang="en-US" altLang="en-US" sz="2400"/>
          </a:p>
          <a:p>
            <a:r>
              <a:rPr lang="en-US" altLang="en-US" sz="2400"/>
              <a:t>* Microservices</a:t>
            </a:r>
            <a:endParaRPr lang="en-US" altLang="en-US" sz="2400"/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zh-CN" altLang="en-US" sz="2400"/>
              <a:t>🧪</a:t>
            </a:r>
            <a:r>
              <a:rPr lang="en-US" altLang="en-US" sz="2400"/>
              <a:t> Minikube</a:t>
            </a:r>
            <a:endParaRPr lang="en-US" altLang="en-US" sz="2400"/>
          </a:p>
          <a:p>
            <a:r>
              <a:rPr lang="en-US" altLang="en-US" sz="2400"/>
              <a:t>What it is: A local Kubernetes cluster.</a:t>
            </a:r>
            <a:endParaRPr lang="en-US" altLang="en-US" sz="2400"/>
          </a:p>
          <a:p>
            <a:r>
              <a:rPr lang="en-US" altLang="en-US" sz="2400"/>
              <a:t>What it does:</a:t>
            </a:r>
            <a:endParaRPr lang="en-US" altLang="en-US" sz="2400"/>
          </a:p>
          <a:p>
            <a:r>
              <a:rPr lang="en-US" altLang="en-US" sz="2400"/>
              <a:t>* Runs Kubernetes on your laptop</a:t>
            </a:r>
            <a:endParaRPr lang="en-US" altLang="en-US" sz="2400"/>
          </a:p>
          <a:p>
            <a:r>
              <a:rPr lang="en-US" altLang="en-US" sz="2400"/>
              <a:t>* Helps learn &amp; test Kubernetes features</a:t>
            </a:r>
            <a:endParaRPr lang="en-US" altLang="en-US" sz="2400"/>
          </a:p>
          <a:p>
            <a:r>
              <a:rPr lang="en-US" altLang="en-US" sz="2400"/>
              <a:t>Used for:</a:t>
            </a:r>
            <a:endParaRPr lang="en-US" altLang="en-US" sz="2400"/>
          </a:p>
          <a:p>
            <a:r>
              <a:rPr lang="en-US" altLang="en-US" sz="2400"/>
              <a:t>* Learning Kubernetes</a:t>
            </a:r>
            <a:endParaRPr lang="en-US" altLang="en-US" sz="2400"/>
          </a:p>
          <a:p>
            <a:r>
              <a:rPr lang="en-US" altLang="en-US" sz="2400"/>
              <a:t>* Local testing of manifests</a:t>
            </a:r>
            <a:endParaRPr lang="en-US" altLang="en-US" sz="2400"/>
          </a:p>
          <a:p>
            <a:endParaRPr lang="en-US" altLang="en-US" sz="240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zh-CN" altLang="en-US" sz="2000"/>
              <a:t>☁</a:t>
            </a:r>
            <a:r>
              <a:rPr lang="" altLang="en-US" sz="2000"/>
              <a:t>️</a:t>
            </a:r>
            <a:r>
              <a:rPr lang="en-US" altLang="en-US" sz="2000"/>
              <a:t> Amazon ECS (Elastic Container Service)</a:t>
            </a:r>
            <a:endParaRPr lang="en-US" altLang="en-US" sz="2000"/>
          </a:p>
          <a:p>
            <a:r>
              <a:rPr lang="en-US" altLang="en-US" sz="2000"/>
              <a:t>What it is: AWS’s managed container orchestration service.</a:t>
            </a:r>
            <a:endParaRPr lang="en-US" altLang="en-US" sz="2000"/>
          </a:p>
          <a:p>
            <a:r>
              <a:rPr lang="en-US" altLang="en-US" sz="2000"/>
              <a:t>What it does:</a:t>
            </a:r>
            <a:endParaRPr lang="en-US" altLang="en-US" sz="2000"/>
          </a:p>
          <a:p>
            <a:r>
              <a:rPr lang="en-US" altLang="en-US" sz="2000"/>
              <a:t>* Runs Docker containers on AWS</a:t>
            </a:r>
            <a:endParaRPr lang="en-US" altLang="en-US" sz="2000"/>
          </a:p>
          <a:p>
            <a:r>
              <a:rPr lang="en-US" altLang="en-US" sz="2000"/>
              <a:t>* No need to manage Kubernetes</a:t>
            </a:r>
            <a:endParaRPr lang="en-US" altLang="en-US" sz="2000"/>
          </a:p>
          <a:p>
            <a:r>
              <a:rPr lang="en-US" altLang="en-US" sz="2000"/>
              <a:t>* Integrates tightly with AWS services</a:t>
            </a:r>
            <a:endParaRPr lang="en-US" altLang="en-US" sz="2000"/>
          </a:p>
          <a:p>
            <a:r>
              <a:rPr lang="en-US" altLang="en-US" sz="2000"/>
              <a:t>Used for:</a:t>
            </a:r>
            <a:endParaRPr lang="en-US" altLang="en-US" sz="2000"/>
          </a:p>
          <a:p>
            <a:r>
              <a:rPr lang="en-US" altLang="en-US" sz="2000"/>
              <a:t>* AWS-first deployments</a:t>
            </a:r>
            <a:endParaRPr lang="en-US" altLang="en-US" sz="2000"/>
          </a:p>
          <a:p>
            <a:r>
              <a:rPr lang="en-US" altLang="en-US" sz="2000"/>
              <a:t>* Simpler container orchestration</a:t>
            </a: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53440" y="1552575"/>
          <a:ext cx="10485120" cy="4092575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81851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/>
                        <a:t>Tool</a:t>
                      </a:r>
                      <a:endParaRPr sz="1800" b="1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/>
                        <a:t>Purpose</a:t>
                      </a:r>
                      <a:endParaRPr sz="1800" b="1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/>
                        <a:t>Environment</a:t>
                      </a:r>
                      <a:endParaRPr sz="1800" b="1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/>
                        <a:t>Complexity</a:t>
                      </a:r>
                      <a:endParaRPr sz="1800" b="1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851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Docker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Run containers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Local / Single host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Easy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851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Kubernetes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Orchestrate containers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Cloud / On-prem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Complex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851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Minikube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Local Kubernetes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Local machine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Easy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851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ECS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AWS container orchestration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AWS only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/>
                        <a:t>Medium</a:t>
                      </a:r>
                      <a:endParaRPr sz="1800"/>
                    </a:p>
                  </a:txBody>
                  <a:tcPr marL="63817" marR="63817" marT="13017" marB="13017" anchor="t" anchorCtr="0">
                    <a:lnL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A9A9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098675" y="1066800"/>
            <a:ext cx="7508240" cy="53155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vs Kubernetes</a:t>
            </a: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266700" y="1519555"/>
          <a:ext cx="11638280" cy="3539490"/>
        </p:xfrm>
        <a:graphic>
          <a:graphicData uri="http://schemas.openxmlformats.org/drawingml/2006/table">
            <a:tbl>
              <a:tblPr/>
              <a:tblGrid>
                <a:gridCol w="1776095"/>
                <a:gridCol w="4756785"/>
                <a:gridCol w="5105400"/>
              </a:tblGrid>
              <a:tr h="626110"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Characteristi</a:t>
                      </a:r>
                      <a:r>
                        <a:rPr lang="en-US"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c</a:t>
                      </a:r>
                      <a:endParaRPr lang="en-US"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Kubernetes</a:t>
                      </a:r>
                      <a:endParaRPr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Docker</a:t>
                      </a:r>
                      <a:endParaRPr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6930"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What is it?</a:t>
                      </a:r>
                      <a:endParaRPr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Container orchestration tool.</a:t>
                      </a:r>
                      <a:endParaRPr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Stack of container technologies to create and run containers.</a:t>
                      </a:r>
                      <a:endParaRPr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876935"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Use</a:t>
                      </a:r>
                      <a:endParaRPr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Coordinate multiple containers across multiple servers.</a:t>
                      </a:r>
                      <a:endParaRPr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Package applications with libraries and runtime into container images.</a:t>
                      </a:r>
                      <a:endParaRPr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9515"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Main benefit</a:t>
                      </a:r>
                      <a:endParaRPr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Define and run complex containerized applications at scale.</a:t>
                      </a:r>
                      <a:endParaRPr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680"/>
                        </a:lnSpc>
                      </a:pPr>
                      <a:r>
                        <a:rPr sz="2000" b="0" i="0">
                          <a:solidFill>
                            <a:srgbClr val="333333"/>
                          </a:solidFill>
                          <a:latin typeface="Times New Roman" panose="02020503050405090304" charset="0"/>
                          <a:ea typeface="AmazonEmber"/>
                          <a:cs typeface="Times New Roman" panose="02020503050405090304" charset="0"/>
                        </a:rPr>
                        <a:t>Standardize application operations and ship code faster.</a:t>
                      </a:r>
                      <a:endParaRPr sz="2000" b="0" i="0">
                        <a:solidFill>
                          <a:srgbClr val="333333"/>
                        </a:solidFill>
                        <a:latin typeface="Times New Roman" panose="02020503050405090304" charset="0"/>
                        <a:ea typeface="AmazonEmber"/>
                        <a:cs typeface="Times New Roman" panose="02020503050405090304" charset="0"/>
                      </a:endParaRPr>
                    </a:p>
                  </a:txBody>
                  <a:tcPr marL="152717" marR="152717" marT="152717" marB="152717" anchor="t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EAEDED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Kubernetes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Kubernetes, often shortened to K8s (K, 8 letters, s), is an open-source platform that automates the deployment, scaling, and management of containerized applications.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Origin: Developed by Google, inspired by internal systems Borg and Omega.</a:t>
            </a:r>
            <a:endParaRPr lang="en-US" altLang="en-US" sz="2400"/>
          </a:p>
          <a:p>
            <a:r>
              <a:rPr lang="en-US" altLang="en-US" sz="2400"/>
              <a:t>Launch: Officially released in 2014.</a:t>
            </a:r>
            <a:endParaRPr lang="en-US" altLang="en-US" sz="2400"/>
          </a:p>
          <a:p>
            <a:r>
              <a:rPr lang="en-US" altLang="en-US" sz="2400"/>
              <a:t>Adoption: Widely used across major cloud providers today.</a:t>
            </a:r>
            <a:endParaRPr lang="en-US" altLang="en-US" sz="2400"/>
          </a:p>
          <a:p>
            <a:r>
              <a:rPr lang="en-US" altLang="en-US" sz="2400"/>
              <a:t>Name Meaning: Kubernetes comes from Greek, meaning “helmsman” or “pilot”, symbolizing its role in steering applications.</a:t>
            </a:r>
            <a:endParaRPr lang="en-US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Features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 b="1">
                <a:latin typeface="Verdana" panose="020B0804030504040204" charset="0"/>
                <a:cs typeface="Verdana" panose="020B0804030504040204" charset="0"/>
              </a:rPr>
              <a:t>Container orchestration: </a:t>
            </a:r>
            <a:r>
              <a:rPr lang="en-US" altLang="en-US" sz="2400"/>
              <a:t>Kubernetes automates many of the manual processes involved in deploying, managing, and scaling containerized applications. This makes it easier to run containerized applications in production environments.</a:t>
            </a:r>
            <a:endParaRPr lang="en-US" altLang="en-US" sz="2400"/>
          </a:p>
          <a:p>
            <a:r>
              <a:rPr lang="en-US" altLang="en-US" sz="2400" b="1">
                <a:latin typeface="Verdana" panose="020B0804030504040204" charset="0"/>
                <a:cs typeface="Verdana" panose="020B0804030504040204" charset="0"/>
              </a:rPr>
              <a:t>Service discovery and load balancing: </a:t>
            </a:r>
            <a:r>
              <a:rPr lang="en-US" altLang="en-US" sz="2400"/>
              <a:t>Kubernetes provides a built-in service discovery and load balancing mechanism. This makes it easy to deploy and manage microservices-based applications.</a:t>
            </a:r>
            <a:endParaRPr lang="en-US" altLang="en-US" sz="2400"/>
          </a:p>
          <a:p>
            <a:r>
              <a:rPr lang="en-US" altLang="en-US" sz="2400" b="1">
                <a:latin typeface="Verdana" panose="020B0804030504040204" charset="0"/>
                <a:cs typeface="Verdana" panose="020B0804030504040204" charset="0"/>
              </a:rPr>
              <a:t>Self-healing:</a:t>
            </a:r>
            <a:r>
              <a:rPr lang="en-US" altLang="en-US" sz="2400"/>
              <a:t> Kubernetes automatically restarts failed containers and reschedules them to healthy nodes. This helps to ensure that your applications are always available.</a:t>
            </a:r>
            <a:endParaRPr lang="en-US" altLang="en-US" sz="2400"/>
          </a:p>
          <a:p>
            <a:r>
              <a:rPr lang="en-US" altLang="en-US" sz="2400" b="1">
                <a:latin typeface="Verdana" panose="020B0804030504040204" charset="0"/>
                <a:cs typeface="Verdana" panose="020B0804030504040204" charset="0"/>
              </a:rPr>
              <a:t>Horizontal scaling:</a:t>
            </a:r>
            <a:r>
              <a:rPr lang="en-US" altLang="en-US" sz="2400"/>
              <a:t> Kubernetes makes it easy to horizontally scale your applications by adding or removing nodes. This allows you to scale your applications up or down as needed.</a:t>
            </a:r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Some features of K8s: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>
                <a:latin typeface="Verdana" panose="020B0804030504040204" charset="0"/>
                <a:cs typeface="Verdana" panose="020B0804030504040204" charset="0"/>
              </a:rPr>
              <a:t>Automated Scheduling </a:t>
            </a:r>
            <a:r>
              <a:rPr lang="en-US" altLang="en-US"/>
              <a:t>– Efficiently places containers on nodes for optimal resource use.</a:t>
            </a:r>
            <a:endParaRPr lang="en-US" altLang="en-US"/>
          </a:p>
          <a:p>
            <a:r>
              <a:rPr lang="en-US" altLang="en-US" b="1">
                <a:latin typeface="Verdana" panose="020B0804030504040204" charset="0"/>
                <a:cs typeface="Verdana" panose="020B0804030504040204" charset="0"/>
              </a:rPr>
              <a:t>Self-Healing</a:t>
            </a:r>
            <a:r>
              <a:rPr lang="en-US" altLang="en-US"/>
              <a:t> – Automatically restarts, replaces, and reschedules failed containers.</a:t>
            </a:r>
            <a:endParaRPr lang="en-US" altLang="en-US"/>
          </a:p>
          <a:p>
            <a:r>
              <a:rPr lang="en-US" altLang="en-US" b="1">
                <a:latin typeface="Verdana" panose="020B0804030504040204" charset="0"/>
                <a:cs typeface="Verdana" panose="020B0804030504040204" charset="0"/>
              </a:rPr>
              <a:t>Rollouts &amp; Rollbacks</a:t>
            </a:r>
            <a:r>
              <a:rPr lang="en-US" altLang="en-US"/>
              <a:t> – Manages application updates and reverts when needed.</a:t>
            </a:r>
            <a:endParaRPr lang="en-US" altLang="en-US"/>
          </a:p>
          <a:p>
            <a:r>
              <a:rPr lang="en-US" altLang="en-US" b="1">
                <a:latin typeface="Verdana" panose="020B0804030504040204" charset="0"/>
                <a:cs typeface="Verdana" panose="020B0804030504040204" charset="0"/>
              </a:rPr>
              <a:t>Scaling &amp; Load Balancing</a:t>
            </a:r>
            <a:r>
              <a:rPr lang="en-US" altLang="en-US"/>
              <a:t> – Supports horizontal scaling and distributes traffic.</a:t>
            </a:r>
            <a:endParaRPr lang="en-US" altLang="en-US"/>
          </a:p>
          <a:p>
            <a:r>
              <a:rPr lang="en-US" altLang="en-US" b="1">
                <a:latin typeface="Verdana" panose="020B0804030504040204" charset="0"/>
                <a:cs typeface="Verdana" panose="020B0804030504040204" charset="0"/>
              </a:rPr>
              <a:t>Resource Optimization </a:t>
            </a:r>
            <a:r>
              <a:rPr lang="en-US" altLang="en-US"/>
              <a:t>– Monitors and ensures efficient resource utilization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Components of Kubernetes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1"/>
            <a:r>
              <a:rPr lang="en-US" altLang="en-US"/>
              <a:t>1. Control Plane (Brain of the Cluster)</a:t>
            </a:r>
            <a:endParaRPr lang="en-US" altLang="en-US"/>
          </a:p>
          <a:p>
            <a:pPr lvl="1"/>
            <a:r>
              <a:rPr lang="en-US" altLang="en-US"/>
              <a:t>2. Master Node</a:t>
            </a:r>
            <a:endParaRPr lang="en-US" altLang="en-US"/>
          </a:p>
          <a:p>
            <a:pPr lvl="1"/>
            <a:r>
              <a:rPr lang="en-US" altLang="en-US"/>
              <a:t>3. Worker Node Components (Do the Work)</a:t>
            </a:r>
            <a:endParaRPr lang="en-US" altLang="en-US"/>
          </a:p>
          <a:p>
            <a:pPr lvl="1"/>
            <a:r>
              <a:rPr lang="en-US" altLang="en-US"/>
              <a:t>4. Core Kubernetes Objects</a:t>
            </a:r>
            <a:endParaRPr lang="en-US" altLang="en-US"/>
          </a:p>
          <a:p>
            <a:pPr lvl="1"/>
            <a:r>
              <a:rPr lang="en-US" altLang="en-US"/>
              <a:t>5. Networking Components</a:t>
            </a:r>
            <a:endParaRPr lang="en-US" altLang="en-US"/>
          </a:p>
          <a:p>
            <a:pPr lvl="1"/>
            <a:r>
              <a:rPr lang="en-US" altLang="en-US"/>
              <a:t>6. Security Components</a:t>
            </a:r>
            <a:endParaRPr lang="en-US" altLang="en-US"/>
          </a:p>
          <a:p>
            <a:pPr lvl="1"/>
            <a:r>
              <a:rPr lang="en-US" altLang="en-US"/>
              <a:t>7. Observability Components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Content Placeholder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295275" y="0"/>
            <a:ext cx="12486640" cy="685800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905500" y="3238500"/>
            <a:ext cx="0" cy="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Cluster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30095" y="1371600"/>
            <a:ext cx="81305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4905" y="1524635"/>
            <a:ext cx="3387725" cy="47548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714375"/>
            <a:ext cx="11290300" cy="599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97635" y="1371600"/>
            <a:ext cx="93954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132205" y="1207770"/>
            <a:ext cx="9593580" cy="54597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rcRect l="2328" t="7913" r="-205" b="3661"/>
          <a:stretch>
            <a:fillRect/>
          </a:stretch>
        </p:blipFill>
        <p:spPr>
          <a:xfrm>
            <a:off x="2312670" y="188595"/>
            <a:ext cx="7232650" cy="6478905"/>
          </a:xfrm>
          <a:prstGeom prst="snip1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The master node defines what should happen.</a:t>
            </a:r>
            <a:endParaRPr lang="en-US" altLang="en-US"/>
          </a:p>
          <a:p>
            <a:r>
              <a:rPr lang="en-US" altLang="en-US"/>
              <a:t>The worker nodes execute how it happens.</a:t>
            </a:r>
            <a:endParaRPr lang="en-US" alt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53440" y="282194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Feature / Role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Master Node (Control Plane)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Worker Node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Primary Function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Manages the cluster and makes decisions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Runs workloads and executes containers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Key Components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API Server, etcd, Scheduler, Controller Manager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Kubelet, Kube-Proxy, Container Runtime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Workload Execution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No (management only)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Yes (Pods and containers)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State Management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Maintains desired and actual state of cluster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Reports local state to control plane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Failure Recovery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Restores workloads on healthy nodes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Recreates or moves Pods when needed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Scalability Role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Manages scaling strategy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sz="1100" b="0" i="0">
                          <a:solidFill>
                            <a:srgbClr val="4D4D4D"/>
                          </a:solidFill>
                          <a:latin typeface="Geist"/>
                          <a:ea typeface="Geist"/>
                        </a:rPr>
                        <a:t>Hosts scaled workloads</a:t>
                      </a:r>
                      <a:endParaRPr sz="1100" b="0" i="0">
                        <a:solidFill>
                          <a:srgbClr val="4D4D4D"/>
                        </a:solidFill>
                        <a:latin typeface="Geist"/>
                        <a:ea typeface="Geist"/>
                      </a:endParaRPr>
                    </a:p>
                  </a:txBody>
                  <a:tcPr marL="203517" marR="203517" marT="127317" marB="1273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993872" y="-190499"/>
            <a:ext cx="5823257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355" y="1148715"/>
            <a:ext cx="11337290" cy="4754880"/>
          </a:xfrm>
        </p:spPr>
        <p:txBody>
          <a:bodyPr/>
          <a:p>
            <a:r>
              <a:rPr lang="en-US" altLang="en-US" sz="1400"/>
              <a:t>1. Pod</a:t>
            </a:r>
            <a:endParaRPr lang="en-US" altLang="en-US" sz="1400"/>
          </a:p>
          <a:p>
            <a:r>
              <a:rPr lang="en-US" altLang="en-US" sz="1400"/>
              <a:t>A</a:t>
            </a:r>
            <a:r>
              <a:rPr lang="" altLang="en-US" sz="1400"/>
              <a:t> </a:t>
            </a:r>
            <a:r>
              <a:rPr lang="en-US" altLang="en-US" sz="1400"/>
              <a:t>Pod</a:t>
            </a:r>
            <a:r>
              <a:rPr lang="" altLang="en-US" sz="1400"/>
              <a:t> </a:t>
            </a:r>
            <a:r>
              <a:rPr lang="en-US" altLang="en-US" sz="1400"/>
              <a:t>is the smallest unit you can deploy in Kubernetes. It wraps one or more containers that need to run together, sharing the same network and storage. Containers inside a Pod can easily communicate and work as a single unit.</a:t>
            </a:r>
            <a:endParaRPr lang="en-US" altLang="en-US" sz="1400"/>
          </a:p>
          <a:p>
            <a:r>
              <a:rPr lang="en-US" altLang="en-US" sz="1400"/>
              <a:t>2. Node</a:t>
            </a:r>
            <a:endParaRPr lang="en-US" altLang="en-US" sz="1400"/>
          </a:p>
          <a:p>
            <a:r>
              <a:rPr lang="en-US" altLang="en-US" sz="1400"/>
              <a:t>A</a:t>
            </a:r>
            <a:r>
              <a:rPr lang="" altLang="en-US" sz="1400"/>
              <a:t> </a:t>
            </a:r>
            <a:r>
              <a:rPr lang="en-US" altLang="en-US" sz="1400"/>
              <a:t>Node</a:t>
            </a:r>
            <a:r>
              <a:rPr lang="" altLang="en-US" sz="1400"/>
              <a:t> </a:t>
            </a:r>
            <a:r>
              <a:rPr lang="en-US" altLang="en-US" sz="1400"/>
              <a:t>is a machine (physical or virtual) in a Kubernetes cluster that runs your applications. Each Node contains the tools needed to run Pods, including the container runtime (like Docker), the Kubelet (agent), and the Kube proxy (networking).</a:t>
            </a:r>
            <a:endParaRPr lang="en-US" altLang="en-US" sz="1400"/>
          </a:p>
          <a:p>
            <a:r>
              <a:rPr lang="en-US" altLang="en-US" sz="1400"/>
              <a:t>3. Cluster</a:t>
            </a:r>
            <a:endParaRPr lang="en-US" altLang="en-US" sz="1400"/>
          </a:p>
          <a:p>
            <a:r>
              <a:rPr lang="en-US" altLang="en-US" sz="1400"/>
              <a:t>A Kubernetes</a:t>
            </a:r>
            <a:r>
              <a:rPr lang="" altLang="en-US" sz="1400"/>
              <a:t> </a:t>
            </a:r>
            <a:r>
              <a:rPr lang="en-US" altLang="en-US" sz="1400"/>
              <a:t>cluster</a:t>
            </a:r>
            <a:r>
              <a:rPr lang="" altLang="en-US" sz="1400"/>
              <a:t> </a:t>
            </a:r>
            <a:r>
              <a:rPr lang="en-US" altLang="en-US" sz="1400"/>
              <a:t>is a group of computers (called nodes) that work together to run your containerized applications. These nodes can be real machines or virtual ones.</a:t>
            </a:r>
            <a:endParaRPr lang="en-US" altLang="en-US" sz="1400"/>
          </a:p>
          <a:p>
            <a:r>
              <a:rPr lang="en-US" altLang="en-US" sz="1400"/>
              <a:t>There are two types of nodes in a Kubernetes cluster:</a:t>
            </a:r>
            <a:endParaRPr lang="en-US" altLang="en-US" sz="1400"/>
          </a:p>
          <a:p>
            <a:r>
              <a:rPr lang="en-US" altLang="en-US" sz="1400"/>
              <a:t>    * Master node (Control Plane):</a:t>
            </a:r>
            <a:endParaRPr lang="en-US" altLang="en-US" sz="1400"/>
          </a:p>
          <a:p>
            <a:r>
              <a:rPr lang="en-US" altLang="en-US" sz="1400"/>
              <a:t>    * Think of it as the brain of the cluster.</a:t>
            </a:r>
            <a:endParaRPr lang="en-US" altLang="en-US" sz="1400"/>
          </a:p>
          <a:p>
            <a:r>
              <a:rPr lang="en-US" altLang="en-US" sz="1400"/>
              <a:t>    * It makes decisions, like where to run applications, handles scheduling, and keeps track of everything.</a:t>
            </a:r>
            <a:endParaRPr lang="en-US" altLang="en-US" sz="1400"/>
          </a:p>
          <a:p>
            <a:r>
              <a:rPr lang="en-US" altLang="en-US" sz="1400"/>
              <a:t>    * Worker nodes:</a:t>
            </a:r>
            <a:endParaRPr lang="en-US" altLang="en-US" sz="1400"/>
          </a:p>
          <a:p>
            <a:r>
              <a:rPr lang="en-US" altLang="en-US" sz="1400"/>
              <a:t>    * These are the machines that actually run your apps inside containers.</a:t>
            </a:r>
            <a:endParaRPr lang="en-US" altLang="en-US" sz="1400"/>
          </a:p>
          <a:p>
            <a:r>
              <a:rPr lang="en-US" altLang="en-US" sz="1400"/>
              <a:t>    * Each worker node has a Kubelet (agent), a container runtime (like Docker or containerd), and tools for networking and monitoring.</a:t>
            </a:r>
            <a:endParaRPr lang="en-US" altLang="en-US" sz="1400"/>
          </a:p>
          <a:p>
            <a:r>
              <a:rPr lang="en-US" altLang="en-US" sz="1400"/>
              <a:t>4. Deployment</a:t>
            </a:r>
            <a:endParaRPr lang="en-US" altLang="en-US" sz="1400"/>
          </a:p>
          <a:p>
            <a:r>
              <a:rPr lang="en-US" altLang="en-US" sz="1400"/>
              <a:t>A</a:t>
            </a:r>
            <a:r>
              <a:rPr lang="" altLang="en-US" sz="1400"/>
              <a:t> </a:t>
            </a:r>
            <a:r>
              <a:rPr lang="en-US" altLang="en-US" sz="1400"/>
              <a:t>Deployment</a:t>
            </a:r>
            <a:r>
              <a:rPr lang="" altLang="en-US" sz="1400"/>
              <a:t> </a:t>
            </a:r>
            <a:r>
              <a:rPr lang="en-US" altLang="en-US" sz="1400"/>
              <a:t>is a Kubernetes object used to manage a set of Pods running your containerized applications. It provides declarative updates, meaning you tell Kubernetes what you want, and it figures out how to get there.</a:t>
            </a:r>
            <a:endParaRPr lang="en-US" altLang="en-US" sz="1400"/>
          </a:p>
          <a:p>
            <a:r>
              <a:rPr lang="en-US" altLang="en-US" sz="1400"/>
              <a:t>5. ReplicaSet</a:t>
            </a:r>
            <a:endParaRPr lang="en-US" altLang="en-US" sz="1400"/>
          </a:p>
          <a:p>
            <a:r>
              <a:rPr lang="en-US" altLang="en-US" sz="1400"/>
              <a:t>A</a:t>
            </a:r>
            <a:r>
              <a:rPr lang="" altLang="en-US" sz="1400"/>
              <a:t> </a:t>
            </a:r>
            <a:r>
              <a:rPr lang="en-US" altLang="en-US" sz="1400"/>
              <a:t>ReplicaSet</a:t>
            </a:r>
            <a:r>
              <a:rPr lang="" altLang="en-US" sz="1400"/>
              <a:t> </a:t>
            </a:r>
            <a:r>
              <a:rPr lang="en-US" altLang="en-US" sz="1400"/>
              <a:t>ensures that the right number of identical Pods are running.</a:t>
            </a:r>
            <a:endParaRPr lang="en-US" altLang="en-US" sz="1400"/>
          </a:p>
          <a:p>
            <a:endParaRPr lang="en-US" altLang="en-US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400">
                <a:sym typeface="+mn-ea"/>
              </a:rPr>
              <a:t>6. Service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A Service in Kubernetes is a way to connect applications running inside your cluster. It gives your Pods a stable way to communicate, even if the Pods themselves keep changing.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7. Ingress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Ingress is a way to manage external access to your services in a Kubernetes cluster. It provides HTTP and HTTPS routing to your services, acting as a reverse proxy.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8. ConfigMap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A ConfigMap stores configuration settings separately from the application, so changes can be made without modifying the actual code.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Imagine you have an application that needs some settings, like a database password or an API key. Instead of hardcoding these settings into your app, you store them in a ConfigMap. Your application can then read these settings from the ConfigMap at runtime, which makes it easy to update the settings without changing the app code.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9. Secret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A Secret is a way to store sensitive information (like passwords, API keys, or tokens) securely in a Kubernetes cluster.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10. Persistent Volume (PV)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A Persistent Volume (PV) in Kubernetes is a piece of storage in the cluster that you can use to store data and it doesn’t get deleted when a Pod is removed or restarted.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11. Kubelet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A Kubelet runs on each Worker Node and ensures Pods are running as expected.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12. Kube-proxy</a:t>
            </a:r>
            <a:endParaRPr lang="en-US" altLang="en-US" sz="1400"/>
          </a:p>
          <a:p>
            <a:r>
              <a:rPr lang="en-US" altLang="en-US" sz="1400">
                <a:sym typeface="+mn-ea"/>
              </a:rPr>
              <a:t>Kube-proxy manages networking inside the cluster, ensuring different Pods can communicate.</a:t>
            </a:r>
            <a:endParaRPr lang="en-US" altLang="en-US" sz="1400"/>
          </a:p>
          <a:p>
            <a:endParaRPr lang="en-US" altLang="en-US" sz="1400"/>
          </a:p>
          <a:p>
            <a:endParaRPr lang="en-US" alt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6740525" cy="4902200"/>
          </a:xfrm>
        </p:spPr>
        <p:txBody>
          <a:bodyPr/>
          <a:p>
            <a:r>
              <a:rPr lang="en-US" altLang="en-US" sz="1800"/>
              <a:t>A Pod is the smallest deployable unit in Kubernetes.</a:t>
            </a:r>
            <a:endParaRPr lang="en-US" altLang="en-US" sz="1800"/>
          </a:p>
          <a:p>
            <a:r>
              <a:rPr lang="en-US" altLang="en-US" sz="1800"/>
              <a:t>It represents one or more containers that:</a:t>
            </a:r>
            <a:endParaRPr lang="en-US" altLang="en-US" sz="1800"/>
          </a:p>
          <a:p>
            <a:r>
              <a:rPr lang="en-US" altLang="en-US" sz="1800"/>
              <a:t>Run together on the same node</a:t>
            </a:r>
            <a:endParaRPr lang="en-US" altLang="en-US" sz="1800"/>
          </a:p>
          <a:p>
            <a:r>
              <a:rPr lang="en-US" altLang="en-US" sz="1800"/>
              <a:t>Share the same IP address</a:t>
            </a:r>
            <a:endParaRPr lang="en-US" altLang="en-US" sz="1800"/>
          </a:p>
          <a:p>
            <a:r>
              <a:rPr lang="en-US" altLang="en-US" sz="1800"/>
              <a:t>Share storage (volumes) and network</a:t>
            </a:r>
            <a:endParaRPr lang="en-US" altLang="en-US" sz="1800"/>
          </a:p>
          <a:p>
            <a:r>
              <a:rPr lang="en-US" altLang="en-US" sz="1800"/>
              <a:t>Are deployed and managed as a single unit</a:t>
            </a:r>
            <a:endParaRPr lang="en-US" altLang="en-US" sz="1800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378575" y="2218055"/>
            <a:ext cx="5658485" cy="43148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Minikube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Minikube is a local Kubernetes cluster that runs on your laptop or desktop.</a:t>
            </a:r>
            <a:endParaRPr lang="en-US" altLang="en-US"/>
          </a:p>
          <a:p>
            <a:r>
              <a:rPr lang="en-US" altLang="en-US"/>
              <a:t>It is mainly used for learning, testing, and development.</a:t>
            </a:r>
            <a:endParaRPr lang="en-US" altLang="en-US"/>
          </a:p>
          <a:p>
            <a:r>
              <a:rPr lang="en-US" altLang="en-US"/>
              <a:t>In simple terms: </a:t>
            </a:r>
            <a:r>
              <a:rPr lang="zh-CN" altLang="en-US"/>
              <a:t>👉</a:t>
            </a:r>
            <a:r>
              <a:rPr lang="en-US" altLang="en-US"/>
              <a:t> Minikube = Kubernetes on your local machine</a:t>
            </a:r>
            <a:endParaRPr lang="en-US" altLang="en-US"/>
          </a:p>
          <a:p>
            <a:r>
              <a:rPr lang="en-US" altLang="en-US"/>
              <a:t>Key points:</a:t>
            </a:r>
            <a:endParaRPr lang="en-US" altLang="en-US"/>
          </a:p>
          <a:p>
            <a:r>
              <a:rPr lang="en-US" altLang="en-US"/>
              <a:t>* Runs a single-node Kubernetes cluster</a:t>
            </a:r>
            <a:endParaRPr lang="en-US" altLang="en-US"/>
          </a:p>
          <a:p>
            <a:r>
              <a:rPr lang="en-US" altLang="en-US"/>
              <a:t>* Supports Docker, containerd, or VM drivers</a:t>
            </a:r>
            <a:endParaRPr lang="en-US" altLang="en-US"/>
          </a:p>
          <a:p>
            <a:r>
              <a:rPr lang="en-US" altLang="en-US"/>
              <a:t>* Lets you practice kubectl commands locally</a:t>
            </a:r>
            <a:endParaRPr lang="en-US" altLang="en-US"/>
          </a:p>
          <a:p>
            <a:r>
              <a:rPr lang="en-US" altLang="en-US"/>
              <a:t>* No cloud cost involved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EJB Security-formate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JB Security-formated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50000">
              <a:schemeClr val="bg1"/>
            </a:gs>
            <a:gs pos="100000">
              <a:schemeClr val="accent1"/>
            </a:gs>
          </a:gsLst>
          <a:lin ang="0" scaled="1"/>
        </a:gra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50000">
              <a:schemeClr val="bg1"/>
            </a:gs>
            <a:gs pos="100000">
              <a:schemeClr val="accent1"/>
            </a:gs>
          </a:gsLst>
          <a:lin ang="0" scaled="1"/>
        </a:gra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lnDef>
  </a:objectDefaults>
  <a:extraClrSchemeLst>
    <a:extraClrScheme>
      <a:clrScheme name="EJB Security-formate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JB Security-formated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JB Security-formated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JB Security-formated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JB Security-formated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JB Security-formated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JB Security-formated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JB Security-formated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JB Security-formated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JB Security-formated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JB Security-formated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JB Security-formated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7811</Words>
  <Application>WPS Writer</Application>
  <PresentationFormat>Widescreen</PresentationFormat>
  <Paragraphs>276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3" baseType="lpstr">
      <vt:lpstr>Arial</vt:lpstr>
      <vt:lpstr>SimSun</vt:lpstr>
      <vt:lpstr>Wingdings</vt:lpstr>
      <vt:lpstr>Arial Unicode MS</vt:lpstr>
      <vt:lpstr>宋体-简</vt:lpstr>
      <vt:lpstr>Calibri Light</vt:lpstr>
      <vt:lpstr>Helvetica Neue</vt:lpstr>
      <vt:lpstr>Calibri</vt:lpstr>
      <vt:lpstr>Microsoft YaHei</vt:lpstr>
      <vt:lpstr>汉仪旗黑</vt:lpstr>
      <vt:lpstr>Tahoma</vt:lpstr>
      <vt:lpstr>Verdana</vt:lpstr>
      <vt:lpstr>AmazonEmber</vt:lpstr>
      <vt:lpstr>Thonburi</vt:lpstr>
      <vt:lpstr>Apple Color Emoji</vt:lpstr>
      <vt:lpstr>Geist</vt:lpstr>
      <vt:lpstr>Times New Roman</vt:lpstr>
      <vt:lpstr>helvetica neue</vt:lpstr>
      <vt:lpstr>Theme2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Docker vs Kubernetes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Cluster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shital</dc:creator>
  <cp:lastModifiedBy>WPS_1723610333</cp:lastModifiedBy>
  <cp:revision>46</cp:revision>
  <dcterms:created xsi:type="dcterms:W3CDTF">2026-02-03T04:32:58Z</dcterms:created>
  <dcterms:modified xsi:type="dcterms:W3CDTF">2026-02-03T04:32:58Z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83A3BBEF4E4AE95E27D38069C5C489E4_41</vt:lpwstr>
  </property>
  <property fmtid="{D5CDD505-2E9C-101B-9397-08002B2CF9AE}" pid="3" name="KSOProductBuildVer">
    <vt:lpwstr>1033-12.1.23152.23152</vt:lpwstr>
  </property>
</Properties>
</file>